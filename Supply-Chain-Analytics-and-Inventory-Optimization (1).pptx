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erif"/>
      <p:regular r:id="rId201314"/>
    </p:embeddedFont>
    <p:embeddedFont>
      <p:font typeface="Noto Serif Medium"/>
      <p:regular r:id="rId201315"/>
    </p:embeddedFont>
    <p:embeddedFont>
      <p:font typeface="Noto Serif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6.png"/><Relationship Id="rId9" Type="http://schemas.openxmlformats.org/officeDocument/2006/relationships/image" Target="../media/image-10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Supply Chain Analytics &amp; Inventory Optimization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An end-to-end project analyzing whether stock levels meet customer demand — from data preparation in SQL Server and MySQL, through DAX-powered KPIs in Power BI, to a published production report.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0902"/>
            <a:ext cx="1518803" cy="255786"/>
          </a:xfrm>
          <a:prstGeom prst="roundRect">
            <a:avLst>
              <a:gd name="adj" fmla="val 22114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62477" y="761405"/>
            <a:ext cx="192638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26616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spc="-66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We're Solving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1341"/>
            <a:ext cx="6920831" cy="3921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9411" y="1927423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99411" y="2340372"/>
            <a:ext cx="3537060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Does the business keep enough stock to meet demand? The dataset covers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20 products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Phone Case, Smartwatch, Air Purifier, VR Headset, Laptop Stand — across multiple dates.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99411" y="3763268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Goal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999411" y="4176216"/>
            <a:ext cx="35370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Find where supply falls short of demand and calculate what each shortage is worth.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99411" y="4835327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Workflow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999411" y="5248275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Four stages: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SQL Server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(data prep),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 + DAX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(KPIs),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MySQL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(migration),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(reconnect &amp; publish).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54298"/>
            <a:ext cx="89016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9C92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10952"/>
            <a:ext cx="12729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170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Summary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291159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4130" dir="2700000">
              <a:srgbClr val="ccc4b8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6832" y="248652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Inventory Table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289520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Order Date, Product ID, Availability, Demand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291159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4130" dir="2700000">
              <a:srgbClr val="ccc4b8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5658" y="248652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Products Table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85658" y="2895203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 ID, Product Name, Unit Price — 20 products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581995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4130" dir="2700000">
              <a:srgbClr val="ccc4b8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6832" y="377735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Joined Table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56832" y="4186039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new_table with all columns merged via left join on Product ID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3581995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4130" dir="2700000">
              <a:srgbClr val="ccc4b8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5658" y="377735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Production Data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85658" y="4186039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1,043 rows imported from SQL Server into MySQL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519886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Test data started as an Excel file. Production data was imported into SQL Server, then migrated to MySQL for the final report.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285"/>
            <a:ext cx="780534" cy="273645"/>
          </a:xfrm>
          <a:prstGeom prst="roundRect">
            <a:avLst>
              <a:gd name="adj" fmla="val 22121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69521" y="589260"/>
            <a:ext cx="117402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STAGE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7759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71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Preparation in SQL Server</a:t>
            </a:r>
            <a:endParaRPr lang="en-US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1731" y="1660128"/>
            <a:ext cx="8528234" cy="39445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41606" y="4495116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39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Save As new_table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41783" y="464796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39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Left Join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352827" y="4495116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39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Check Distincts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320397" y="4495116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39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Explore Tables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759748"/>
            <a:ext cx="108687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 the test environment, the two tables were joined on Product ID so each inventory row received its product name and unit price, then saved as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new_table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The same process was repeated in production after data cleaning.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6879"/>
            <a:ext cx="1811491" cy="255786"/>
          </a:xfrm>
          <a:prstGeom prst="roundRect">
            <a:avLst>
              <a:gd name="adj" fmla="val 22114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62477" y="637381"/>
            <a:ext cx="2219071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STAGE 1 — PRODUCTION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02593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spc="-66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Production Environment Fixes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1341"/>
            <a:ext cx="6920831" cy="3921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9411" y="1803400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Issue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99411" y="2216348"/>
            <a:ext cx="353706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Production data included Product IDs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21 and 22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but the Products table only had 20 entries — leaving unmatched rows with blank names and prices.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99411" y="3384649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Fix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999411" y="3797598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Used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to remap: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21 → 7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and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22 → 11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then rebuilt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new_table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 the corrected join.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99411" y="4730055"/>
            <a:ext cx="3537060" cy="1372394"/>
          </a:xfrm>
          <a:prstGeom prst="roundRect">
            <a:avLst>
              <a:gd name="adj" fmla="val 5152"/>
            </a:avLst>
          </a:prstGeom>
          <a:solidFill>
            <a:srgbClr val="E8E6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682" y="4965303"/>
            <a:ext cx="210338" cy="1682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46291" y="4907062"/>
            <a:ext cx="2821909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If the join ran first, IDs 21 and 22 would have empty names and prices — cleaning must happen before the join.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409168" cy="143470"/>
          </a:xfrm>
          <a:prstGeom prst="roundRect">
            <a:avLst>
              <a:gd name="adj" fmla="val 22134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90544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STAGE 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Migrating Data to MySQL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401318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Syntax Differences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487" y="3596184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Name quoting: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[square brackets]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`backticks`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Create table from query: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SELECT...INTO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TABLE...AS SELECT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UPDATE without key: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Allowed in SQL Server; blocked by safe update mode in MySQL (error 1175)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7487" y="4011811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Additional fixes included wrong quotes, misplaced semicolons, and table names requiring backticks.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0833"/>
            <a:ext cx="818931" cy="287139"/>
          </a:xfrm>
          <a:prstGeom prst="roundRect">
            <a:avLst>
              <a:gd name="adj" fmla="val 22118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87487"/>
            <a:ext cx="12017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STAGE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935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DAX Measures in Power BI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6769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calculated column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Loss/Profit = Availability − Demand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underpins all measures. Negative = shortage; positive = surplus.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382738"/>
          <a:ext cx="9143771" cy="914400"/>
        </p:xfrm>
        <a:graphic>
          <a:graphicData uri="http://schemas.openxmlformats.org/drawingml/2006/table">
            <a:tbl>
              <a:tblPr/>
              <a:tblGrid>
                <a:gridCol w="3804061"/>
                <a:gridCol w="7064685"/>
              </a:tblGrid>
              <a:tr h="54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Measure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What It Calculates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Total Availability / Demand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Sum of each field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Total Supply Shortage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Demand − Availability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Avg Availability / Demand Per Day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Total ÷ distinct order dates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Total Loss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Shortage rows × unit price (positive)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Total Profit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Surplus rows × unit price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Average Loss Per Day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Total Loss ÷ distinct order dates</a:t>
                      </a:r>
                      <a:endParaRPr lang="en-US" sz="145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811907"/>
            <a:ext cx="1908326" cy="287139"/>
          </a:xfrm>
          <a:prstGeom prst="roundRect">
            <a:avLst>
              <a:gd name="adj" fmla="val 22118"/>
            </a:avLst>
          </a:prstGeom>
          <a:solidFill>
            <a:srgbClr val="E8E6E3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868561"/>
            <a:ext cx="22911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DASHBOARD — PAGE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17465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Demand vs. Availability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2143224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98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48.65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661475" y="3003153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Avg Demand/Day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3927972" y="2143224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98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24.70</a:t>
            </a:r>
            <a:endParaRPr lang="en-US" sz="4900" dirty="0"/>
          </a:p>
        </p:txBody>
      </p:sp>
      <p:sp>
        <p:nvSpPr>
          <p:cNvPr id="9" name="Text 6"/>
          <p:cNvSpPr/>
          <p:nvPr/>
        </p:nvSpPr>
        <p:spPr>
          <a:xfrm>
            <a:off x="3927972" y="3003153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Avg Availability/Day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2294674" y="3770908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98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61K</a:t>
            </a:r>
            <a:endParaRPr lang="en-US" sz="4900" dirty="0"/>
          </a:p>
        </p:txBody>
      </p:sp>
      <p:sp>
        <p:nvSpPr>
          <p:cNvPr id="11" name="Text 8"/>
          <p:cNvSpPr/>
          <p:nvPr/>
        </p:nvSpPr>
        <p:spPr>
          <a:xfrm>
            <a:off x="2294674" y="4630837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Supply Shortage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61475" y="513873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Average daily availability is only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~51%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of daily demand. The business could not meet demand across the test period, accumulating a 61K unit shortage.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24570"/>
            <a:ext cx="1848201" cy="278110"/>
          </a:xfrm>
          <a:prstGeom prst="roundRect">
            <a:avLst>
              <a:gd name="adj" fmla="val 22123"/>
            </a:avLst>
          </a:prstGeom>
          <a:solidFill>
            <a:srgbClr val="E8E6E3"/>
          </a:solidFill>
          <a:ln/>
        </p:spPr>
      </p:sp>
      <p:sp>
        <p:nvSpPr>
          <p:cNvPr id="4" name="Text 1"/>
          <p:cNvSpPr/>
          <p:nvPr/>
        </p:nvSpPr>
        <p:spPr>
          <a:xfrm>
            <a:off x="5343193" y="579438"/>
            <a:ext cx="2238121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DASHBOARD — PAGE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873621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spc="-72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Shortage vs. Surplus Value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233360" y="1803301"/>
            <a:ext cx="3037605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750" spc="-95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8M</a:t>
            </a:r>
            <a:endParaRPr lang="en-US" sz="4750" dirty="0"/>
          </a:p>
        </p:txBody>
      </p:sp>
      <p:sp>
        <p:nvSpPr>
          <p:cNvPr id="7" name="Text 4"/>
          <p:cNvSpPr/>
          <p:nvPr/>
        </p:nvSpPr>
        <p:spPr>
          <a:xfrm>
            <a:off x="5233360" y="2631976"/>
            <a:ext cx="30376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6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Loss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233360" y="3024386"/>
            <a:ext cx="303760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Value of stock shortages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92615" y="1803301"/>
            <a:ext cx="3037605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750" spc="-95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301K</a:t>
            </a:r>
            <a:endParaRPr lang="en-US" sz="4750" dirty="0"/>
          </a:p>
        </p:txBody>
      </p:sp>
      <p:sp>
        <p:nvSpPr>
          <p:cNvPr id="10" name="Text 7"/>
          <p:cNvSpPr/>
          <p:nvPr/>
        </p:nvSpPr>
        <p:spPr>
          <a:xfrm>
            <a:off x="8492615" y="2631976"/>
            <a:ext cx="30376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6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Profit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492615" y="3024386"/>
            <a:ext cx="303760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Value of surplus stock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62988" y="3759002"/>
            <a:ext cx="3037605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750" spc="-95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2.97K</a:t>
            </a:r>
            <a:endParaRPr lang="en-US" sz="4750" dirty="0"/>
          </a:p>
        </p:txBody>
      </p:sp>
      <p:sp>
        <p:nvSpPr>
          <p:cNvPr id="13" name="Text 10"/>
          <p:cNvSpPr/>
          <p:nvPr/>
        </p:nvSpPr>
        <p:spPr>
          <a:xfrm>
            <a:off x="6862988" y="4587677"/>
            <a:ext cx="30376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6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Avg Daily Loss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62988" y="4980087"/>
            <a:ext cx="303760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Shortage cost per day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33360" y="5468045"/>
            <a:ext cx="629686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Shortage value is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~27× the surplus value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stock-outs are the primary business risk, not overstock. On average, the shortage costs ~2.97K per day.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649982"/>
            <a:ext cx="1232266" cy="242292"/>
          </a:xfrm>
          <a:prstGeom prst="roundRect">
            <a:avLst>
              <a:gd name="adj" fmla="val 22117"/>
            </a:avLst>
          </a:prstGeom>
          <a:solidFill>
            <a:srgbClr val="E8E6E3"/>
          </a:solidFill>
          <a:ln/>
        </p:spPr>
      </p:sp>
      <p:sp>
        <p:nvSpPr>
          <p:cNvPr id="4" name="Text 1"/>
          <p:cNvSpPr/>
          <p:nvPr/>
        </p:nvSpPr>
        <p:spPr>
          <a:xfrm>
            <a:off x="5329005" y="697805"/>
            <a:ext cx="1650562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946051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spc="-6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We Learned</a:t>
            </a:r>
            <a:endParaRPr lang="en-US" sz="3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646238"/>
            <a:ext cx="6311811" cy="9368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8049" y="1824732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Supply Trails Demand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88049" y="2154535"/>
            <a:ext cx="586368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Daily availability was ~51% of demand, with a 61K unit shortage in test data.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702719"/>
            <a:ext cx="6311811" cy="9368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8049" y="2881213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Shortage Is the Main Risk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488049" y="3211016"/>
            <a:ext cx="586368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Shortage value is ~27× surplus — stock-outs cost far more than overstock.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759200"/>
            <a:ext cx="6311811" cy="11720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8049" y="3937695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Cleaning Is Non-Negotiable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5488049" y="4267498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Unmatched product IDs (21, 22) were fixed before the join to prevent blank names and prices.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050830"/>
            <a:ext cx="6311811" cy="11720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88049" y="5229324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Reports Can Move — With Care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5488049" y="5559127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Switching to MySQL required fixing syntax, column name casing, and data types.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2026-10-01T09:53:04Z</dcterms:created>
  <dcterms:modified xsi:type="dcterms:W3CDTF">2026-10-01T09:53:04Z</dcterms:modified>
</cp:coreProperties>
</file>